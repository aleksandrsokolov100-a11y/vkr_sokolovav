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7" r:id="rId1"/>
  </p:sldMasterIdLst>
  <p:notesMasterIdLst>
    <p:notesMasterId r:id="rId37"/>
  </p:notesMasterIdLst>
  <p:sldIdLst>
    <p:sldId id="256" r:id="rId2"/>
    <p:sldId id="257" r:id="rId3"/>
    <p:sldId id="274" r:id="rId4"/>
    <p:sldId id="275" r:id="rId5"/>
    <p:sldId id="258" r:id="rId6"/>
    <p:sldId id="259" r:id="rId7"/>
    <p:sldId id="260" r:id="rId8"/>
    <p:sldId id="265" r:id="rId9"/>
    <p:sldId id="264" r:id="rId10"/>
    <p:sldId id="276" r:id="rId11"/>
    <p:sldId id="263" r:id="rId12"/>
    <p:sldId id="277" r:id="rId13"/>
    <p:sldId id="278" r:id="rId14"/>
    <p:sldId id="261" r:id="rId15"/>
    <p:sldId id="279" r:id="rId16"/>
    <p:sldId id="281" r:id="rId17"/>
    <p:sldId id="282" r:id="rId18"/>
    <p:sldId id="283" r:id="rId19"/>
    <p:sldId id="284" r:id="rId20"/>
    <p:sldId id="285" r:id="rId21"/>
    <p:sldId id="286" r:id="rId22"/>
    <p:sldId id="26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72" r:id="rId31"/>
    <p:sldId id="294" r:id="rId32"/>
    <p:sldId id="295" r:id="rId33"/>
    <p:sldId id="267" r:id="rId34"/>
    <p:sldId id="269" r:id="rId35"/>
    <p:sldId id="271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78"/>
  </p:normalViewPr>
  <p:slideViewPr>
    <p:cSldViewPr snapToGrid="0">
      <p:cViewPr varScale="1">
        <p:scale>
          <a:sx n="82" d="100"/>
          <a:sy n="82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D938C-8753-BB42-B8FD-B5CB04C9303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653C9-EBD6-944E-8FFD-82D1FB8AB3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5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FC6A7-5A36-A105-7546-6A8677E6F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F2E35C-A534-1B46-A484-1FD4DB525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DB7A74-5A40-2D32-C7EC-54033E86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13CF-0A2A-B14C-AC3B-61FBCB860667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7B7A55-75D5-BF63-017A-7C841793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3FC826-9ED5-07F2-8D8E-F45DEA70F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95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D218A-8CB4-7BB2-2F2A-4E81FDBD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EACF38-814B-5A11-9C1E-69E3173E1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038A5E-0336-F5B0-DDA3-9AD7778A9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1CED5-7DD1-1642-B9A4-5DF018C9697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295D6A-B28E-C6DA-37B7-4B988522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F868A6-0BE2-F097-2EC5-F6B3595D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69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FE032-6601-EE26-5318-A30F7D09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E91438-2F44-E190-F2A7-386381831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5CACE7-CF4A-03E3-FBB6-9E9CE26D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05E66-3817-AB46-BC45-CDD621FB05A0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0E8730-FCDA-1DC0-428F-08388DD3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A25EA4-9925-1055-C61B-575D2047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42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2AEC5-3898-3C0E-00B4-A11B2086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09A29C-6BFD-7589-335A-364EBFB89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01136-C81A-8F93-4268-E87536F33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AB013B-918E-13BC-FFF5-61DE3860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3F81-88F1-E946-8497-E037A109A30E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A6C570-B006-BC00-8C82-C08FD343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D98A6D-4E48-A148-A40E-F189E522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88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22454-15D8-D5D3-FD49-48D22B4D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3E52CF-D85B-8803-9946-93AA50592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D9DBCC-CA24-627C-05C5-59F3B27F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D9D292-C0DF-D49F-DD45-23D813D77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138601-E7CF-A4B9-6DCB-1D8289D3E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1F08DA5-5B6F-15C2-113C-57E51820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9635-D7E0-E244-8984-E4FC9DA7C7E9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FFAB633-67FC-7373-D68F-EB506CE0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065A676-E988-B14A-558A-FAAF00C9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19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62828-1B38-1F65-024C-245187A3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93B374-61A6-086B-EADE-1DAE44AE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82B7-514D-A842-9C29-45BD8D49B5D8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C60341-4908-CCED-39DF-9BEDF88E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63CBE0-FB87-E237-788D-752B32AA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1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13D30B7-14D6-95FF-09AA-F184697A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36259-1361-EC40-A676-A47CABE218A1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78C736-319C-A218-D1AB-494A9450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880439-6E8D-69E0-0361-F65F4C0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05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0E65B-33E7-2ECB-B1ED-2DB176D4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D8112D-6344-DF12-CC9C-6CE48899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F32EB8-1593-644D-B3FF-180161D86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C2710C-5C9E-6EED-4DC6-BCC94586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1BD7-0FE4-DA4F-9610-1AD866283BD4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BB6C48-1775-36F4-F27C-5A8F23F0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A64049-64F2-85C7-CFC0-563029C1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64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A78CD-B90E-CAB0-9EFC-953E772E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ECCB83-1832-067A-1E7C-2D04D3A1D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F1CCB6-E10E-4CE9-46BF-FA90E568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2DE433-FEFE-ABEA-023F-EB4552BEF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E975A-278E-0F40-AF5E-161DE987EA67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FE5A2C-46FE-AC6E-90CE-CBE3D17C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D894F8-BD39-ACC5-8953-4A539C86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06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E2378-AD67-912E-753C-13659E4C6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3DCBA1-3B18-3EDB-5325-3FD47D92B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A0C203-A4BF-DB0A-9133-14F2E5E9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81AF-B361-974E-898A-F1439192093C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0B3EF1-4442-8DAD-CD75-3F14B9D7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1F0AA2-7E6B-86BC-55E0-166E3001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09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EABB69-ED35-9EA9-6DDB-869397DF0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41CEC7-7FE8-8CFD-76E9-27BA19546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814127-15C8-D6DE-D369-1B091D8A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FE3F0-F7C2-7F47-8101-A0CA988D7C13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608540-857B-BD23-4F4F-CE7868E6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10F2BC-6E57-A378-A594-AAA621A9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2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222E7-EEBB-52FD-C667-B08CC64A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36E514-D3C7-831F-A904-219E28171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E9953F-0472-2B15-E0B0-6E1EED6EB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C76ED-FE0A-3141-8851-376960FE991F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4E8F0E-5276-0152-9A8B-C58C41B7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08113-00E9-6976-A68D-8C68DE0A0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13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ИНБО-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-22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Соколов А.В.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каф. ПМ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Аристов А.И.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информатика»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«Управление данными»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672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>
              <a:lnSpc>
                <a:spcPct val="107000"/>
              </a:lnSpc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аналитического сервиса прогнозирования заболеваемости раком легких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18FCD-C684-CF4F-AF46-68A03BC8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483" y="210133"/>
            <a:ext cx="636503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цель исследования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FD32FF-BBFB-5F1F-332A-51F378C3D2B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Лечение рака легких в Израиле - Медицинский центр Шиба">
            <a:extLst>
              <a:ext uri="{FF2B5EF4-FFF2-40B4-BE49-F238E27FC236}">
                <a16:creationId xmlns:a16="http://schemas.microsoft.com/office/drawing/2014/main" id="{1F54E1F7-62BE-2998-E315-2BAC40B42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7" y="2063135"/>
            <a:ext cx="3081483" cy="308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Обучение с учителем и без — в чём разница? / Хабр">
            <a:extLst>
              <a:ext uri="{FF2B5EF4-FFF2-40B4-BE49-F238E27FC236}">
                <a16:creationId xmlns:a16="http://schemas.microsoft.com/office/drawing/2014/main" id="{92D8E3CC-CF60-D75F-B48B-AABD4F4D7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094" y="2063135"/>
            <a:ext cx="4125684" cy="308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Создание мобильных приложений: этапы разработки">
            <a:extLst>
              <a:ext uri="{FF2B5EF4-FFF2-40B4-BE49-F238E27FC236}">
                <a16:creationId xmlns:a16="http://schemas.microsoft.com/office/drawing/2014/main" id="{7E3A6139-294C-FE26-4891-5AB93A0A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572" y="2063135"/>
            <a:ext cx="3837854" cy="308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D77A6F-E15F-4F23-5EE4-352B0E2C0A4F}"/>
              </a:ext>
            </a:extLst>
          </p:cNvPr>
          <p:cNvSpPr txBox="1"/>
          <p:nvPr/>
        </p:nvSpPr>
        <p:spPr>
          <a:xfrm>
            <a:off x="293816" y="5424474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Рак лёгких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D576E-88EE-2048-0906-91413C48D442}"/>
              </a:ext>
            </a:extLst>
          </p:cNvPr>
          <p:cNvSpPr txBox="1"/>
          <p:nvPr/>
        </p:nvSpPr>
        <p:spPr>
          <a:xfrm>
            <a:off x="4204194" y="5424474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Машинное обучение</a:t>
            </a:r>
            <a:endParaRPr lang="ru-RU" sz="1800" b="1" kern="100" dirty="0">
              <a:effectLst/>
              <a:latin typeface="Times New Roman" panose="02020603050405020304" pitchFamily="18" charset="0"/>
              <a:ea typeface="Droid Sans Fallback"/>
              <a:cs typeface="Free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3AEE8B-BA05-516E-9C13-C1640E1B3307}"/>
              </a:ext>
            </a:extLst>
          </p:cNvPr>
          <p:cNvSpPr txBox="1"/>
          <p:nvPr/>
        </p:nvSpPr>
        <p:spPr>
          <a:xfrm>
            <a:off x="8492757" y="5239807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34067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19547CE-27E0-680D-2DA9-26D6CAD0A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078" y="1825624"/>
            <a:ext cx="6742922" cy="42112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предметную область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существующие решения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требования к системе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и реализовать приложение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и протестировать модели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эффективность разработанного решения.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Статистические методы анализа данных в решении практических задач (часть  первая) - Блог «Анкетолог»">
            <a:extLst>
              <a:ext uri="{FF2B5EF4-FFF2-40B4-BE49-F238E27FC236}">
                <a16:creationId xmlns:a16="http://schemas.microsoft.com/office/drawing/2014/main" id="{776B322F-914A-8E31-A7FE-8BABB2A1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66" y="1825625"/>
            <a:ext cx="4654233" cy="407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74B06B2-69BC-947A-7B5B-33B71546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678" y="434067"/>
            <a:ext cx="9218644" cy="69424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Объект, предмет и задачи исследования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25E43-1CD4-EEED-BDC6-325278D4BAFC}"/>
              </a:ext>
            </a:extLst>
          </p:cNvPr>
          <p:cNvSpPr txBox="1"/>
          <p:nvPr/>
        </p:nvSpPr>
        <p:spPr>
          <a:xfrm>
            <a:off x="1372740" y="5896947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Анализ</a:t>
            </a:r>
          </a:p>
        </p:txBody>
      </p:sp>
    </p:spTree>
    <p:extLst>
      <p:ext uri="{BB962C8B-B14F-4D97-AF65-F5344CB8AC3E}">
        <p14:creationId xmlns:p14="http://schemas.microsoft.com/office/powerpoint/2010/main" val="1975536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9F211FE-CB6B-43A2-7EE3-89CC920AFC3F}"/>
              </a:ext>
            </a:extLst>
          </p:cNvPr>
          <p:cNvSpPr txBox="1">
            <a:spLocks/>
          </p:cNvSpPr>
          <p:nvPr/>
        </p:nvSpPr>
        <p:spPr>
          <a:xfrm>
            <a:off x="3433275" y="312770"/>
            <a:ext cx="532545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F90B21D-6A0F-180F-7351-7DD66C38C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078" y="1825625"/>
            <a:ext cx="6742922" cy="4071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проблемы: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позднее выявление заболевания;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 объем разнородных данных;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когнитивная нагрузка на врача;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дефицит доступных аналитических сервисов для первичного звена.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Интеллектуальные информационные технологии в медицине (2024)">
            <a:extLst>
              <a:ext uri="{FF2B5EF4-FFF2-40B4-BE49-F238E27FC236}">
                <a16:creationId xmlns:a16="http://schemas.microsoft.com/office/drawing/2014/main" id="{33345785-4C96-7475-F8A3-659A68283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04" y="1381125"/>
            <a:ext cx="409575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770417-5BCC-7276-4422-0CBC2AFEAC1F}"/>
              </a:ext>
            </a:extLst>
          </p:cNvPr>
          <p:cNvSpPr txBox="1"/>
          <p:nvPr/>
        </p:nvSpPr>
        <p:spPr>
          <a:xfrm>
            <a:off x="1196237" y="5527615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Медицина будущего</a:t>
            </a:r>
          </a:p>
        </p:txBody>
      </p:sp>
    </p:spTree>
    <p:extLst>
      <p:ext uri="{BB962C8B-B14F-4D97-AF65-F5344CB8AC3E}">
        <p14:creationId xmlns:p14="http://schemas.microsoft.com/office/powerpoint/2010/main" val="25516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FF92-4229-7936-308B-85E144D0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F7586-6EC0-F1E3-8983-3FDDD95B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385" y="210133"/>
            <a:ext cx="5693229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849CEA-AF7E-D689-6B5E-D52DA386E73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1135A-B2DD-B861-DEC1-284331156153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77FB6DE-DFA7-380E-00CF-1FEF481D2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674750"/>
              </p:ext>
            </p:extLst>
          </p:nvPr>
        </p:nvGraphicFramePr>
        <p:xfrm>
          <a:off x="241039" y="885015"/>
          <a:ext cx="11709919" cy="58439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2026">
                  <a:extLst>
                    <a:ext uri="{9D8B030D-6E8A-4147-A177-3AD203B41FA5}">
                      <a16:colId xmlns:a16="http://schemas.microsoft.com/office/drawing/2014/main" val="3593620678"/>
                    </a:ext>
                  </a:extLst>
                </a:gridCol>
                <a:gridCol w="1903445">
                  <a:extLst>
                    <a:ext uri="{9D8B030D-6E8A-4147-A177-3AD203B41FA5}">
                      <a16:colId xmlns:a16="http://schemas.microsoft.com/office/drawing/2014/main" val="3341754327"/>
                    </a:ext>
                  </a:extLst>
                </a:gridCol>
                <a:gridCol w="3573624">
                  <a:extLst>
                    <a:ext uri="{9D8B030D-6E8A-4147-A177-3AD203B41FA5}">
                      <a16:colId xmlns:a16="http://schemas.microsoft.com/office/drawing/2014/main" val="2087380141"/>
                    </a:ext>
                  </a:extLst>
                </a:gridCol>
                <a:gridCol w="4030824">
                  <a:extLst>
                    <a:ext uri="{9D8B030D-6E8A-4147-A177-3AD203B41FA5}">
                      <a16:colId xmlns:a16="http://schemas.microsoft.com/office/drawing/2014/main" val="3129549852"/>
                    </a:ext>
                  </a:extLst>
                </a:gridCol>
              </a:tblGrid>
              <a:tr h="36939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Программный продукт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системы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Ключевые преимущества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 недостатки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7082009"/>
                  </a:ext>
                </a:extLst>
              </a:tr>
              <a:tr h="7387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ONCOTODAY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Справочная, Мониторинговая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профессиональных калькуляторов и протоколов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автоматизированного анализа данных пациента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4134317"/>
                  </a:ext>
                </a:extLst>
              </a:tr>
              <a:tr h="9234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Watson for Oncology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Рекомендательная (ИИ)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Глубокий анализ научной литературы, обоснование лечения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стоимость, зависимость от западных протоколов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555043"/>
                  </a:ext>
                </a:extLst>
              </a:tr>
              <a:tr h="9234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Health AI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Визуализационная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Сверхточный поиск патологий на КТ-снимках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Игнорирование неструктурированных факторов риска, представленных в анамнезе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2759221"/>
                  </a:ext>
                </a:extLst>
              </a:tr>
              <a:tr h="9234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Celsus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 или 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Цельс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Визуализационная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Эффективность при массовых скринингах легких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Фокус только на снимках, отсутствие предиктивного анализа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5214189"/>
                  </a:ext>
                </a:extLst>
              </a:tr>
              <a:tr h="9234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Botkin.AI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Диагностическая (ИИ)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Минимизация врачебных ошибок при пропуске очагов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Регуляторные риски, нестабильность точности диагнозов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6936883"/>
                  </a:ext>
                </a:extLst>
              </a:tr>
              <a:tr h="92349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Онконет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Телемедицинская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Эффективный сбор статистики, отслеживания состояния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Droid Sans Fallback"/>
                          <a:cs typeface="Times New Roman" panose="02020603050405020304" pitchFamily="18" charset="0"/>
                        </a:rPr>
                        <a:t>Не предназначена для оценки рисков и постановки диагноза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2248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27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D72B-1EC2-D50F-6F64-6B0FC461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19A96-A135-0758-166D-37069C5B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50"/>
            <a:ext cx="10515600" cy="1164419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 на разработку аналитического сервиса прогнозирования заболеваемости раком лёгких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743889-063E-445E-1A51-5C0BD370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660" y="1436914"/>
            <a:ext cx="5113176" cy="504795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требования: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понятный интерфейс;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работа;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импорта данных из CSV, SQL и веб-источников;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полнота выявления положительных случаев.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DBA07A-9CCF-0BA5-EDEA-457DC43E8F9A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A31A4A5-9FB7-6798-4491-E2F2AD240AA8}"/>
              </a:ext>
            </a:extLst>
          </p:cNvPr>
          <p:cNvSpPr txBox="1">
            <a:spLocks/>
          </p:cNvSpPr>
          <p:nvPr/>
        </p:nvSpPr>
        <p:spPr>
          <a:xfrm>
            <a:off x="270589" y="1436914"/>
            <a:ext cx="6242178" cy="5271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разрабатываемого сервиса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 со структурированными клинико-анамнестическими данными;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 предобработку и анализ данных;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визуализацию данных;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оценивает вероятность наличия рака легких;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справочный модуль для врача.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5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BF4A-02AF-77FB-3ECD-11838F1B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8C560-3075-325B-8F8B-C88CD9FD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32" y="330241"/>
            <a:ext cx="4872135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модели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C99B8D-106F-D845-BB67-4387A7947F4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5E6978-7EA7-082F-2A31-EF8F53481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75" y="1128515"/>
            <a:ext cx="11664450" cy="4731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354748-6CF5-3235-55F7-8A95629C8E1F}"/>
              </a:ext>
            </a:extLst>
          </p:cNvPr>
          <p:cNvSpPr txBox="1"/>
          <p:nvPr/>
        </p:nvSpPr>
        <p:spPr>
          <a:xfrm>
            <a:off x="4555257" y="5992297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Отрывок данных</a:t>
            </a:r>
          </a:p>
        </p:txBody>
      </p:sp>
    </p:spTree>
    <p:extLst>
      <p:ext uri="{BB962C8B-B14F-4D97-AF65-F5344CB8AC3E}">
        <p14:creationId xmlns:p14="http://schemas.microsoft.com/office/powerpoint/2010/main" val="127044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8267-C448-7C24-1925-E0A56724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15AA9-F243-4776-7B62-FEFF97B1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969" y="330241"/>
            <a:ext cx="7410061" cy="694240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и этапы разработки системы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DA4427-C7F0-9AF9-0762-C77AAACA8EF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20E202-B71E-3B02-56B8-3DF4054A5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928" y="1227571"/>
            <a:ext cx="7142143" cy="4402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DD8F24-62AD-DAE4-B6E6-AAA916ADA0F8}"/>
              </a:ext>
            </a:extLst>
          </p:cNvPr>
          <p:cNvSpPr txBox="1"/>
          <p:nvPr/>
        </p:nvSpPr>
        <p:spPr>
          <a:xfrm>
            <a:off x="3047222" y="576896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Схема архитектуры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7124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18F-58C6-C9CA-8096-93F48BA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35AA-0F16-A552-5B60-E05B619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492" y="374458"/>
            <a:ext cx="8707016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инструментальных средств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6650A-2AFE-C0E3-CEE7-02D559808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596" y="1640959"/>
            <a:ext cx="68502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использованы: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Python;</a:t>
            </a: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обработки данных;</a:t>
            </a: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построения моделей;</a:t>
            </a: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визуализации;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для загрузки данных;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графического интерфейса.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Библиотеки Python: большая подборка с описанием">
            <a:extLst>
              <a:ext uri="{FF2B5EF4-FFF2-40B4-BE49-F238E27FC236}">
                <a16:creationId xmlns:a16="http://schemas.microsoft.com/office/drawing/2014/main" id="{2BF5D5E5-81CA-4390-1D73-4FBB8AC5E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80" y="1597384"/>
            <a:ext cx="4841810" cy="396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5B3748-4A0E-9BA2-6FC0-A9086883DDCB}"/>
              </a:ext>
            </a:extLst>
          </p:cNvPr>
          <p:cNvSpPr txBox="1"/>
          <p:nvPr/>
        </p:nvSpPr>
        <p:spPr>
          <a:xfrm>
            <a:off x="1026343" y="5671662"/>
            <a:ext cx="308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b="1" kern="100" dirty="0">
                <a:latin typeface="Times New Roman" panose="02020603050405020304" pitchFamily="18" charset="0"/>
                <a:ea typeface="Droid Sans Fallback"/>
                <a:cs typeface="FreeSans"/>
              </a:rPr>
              <a:t>Библиотеки питон</a:t>
            </a:r>
          </a:p>
        </p:txBody>
      </p:sp>
    </p:spTree>
    <p:extLst>
      <p:ext uri="{BB962C8B-B14F-4D97-AF65-F5344CB8AC3E}">
        <p14:creationId xmlns:p14="http://schemas.microsoft.com/office/powerpoint/2010/main" val="320832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A5CFC46-4833-CC8C-E4C6-5D175ECD3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60167"/>
              </p:ext>
            </p:extLst>
          </p:nvPr>
        </p:nvGraphicFramePr>
        <p:xfrm>
          <a:off x="87182" y="78704"/>
          <a:ext cx="11977301" cy="66206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2441">
                  <a:extLst>
                    <a:ext uri="{9D8B030D-6E8A-4147-A177-3AD203B41FA5}">
                      <a16:colId xmlns:a16="http://schemas.microsoft.com/office/drawing/2014/main" val="4070907643"/>
                    </a:ext>
                  </a:extLst>
                </a:gridCol>
                <a:gridCol w="3088849">
                  <a:extLst>
                    <a:ext uri="{9D8B030D-6E8A-4147-A177-3AD203B41FA5}">
                      <a16:colId xmlns:a16="http://schemas.microsoft.com/office/drawing/2014/main" val="3233777500"/>
                    </a:ext>
                  </a:extLst>
                </a:gridCol>
                <a:gridCol w="3088849">
                  <a:extLst>
                    <a:ext uri="{9D8B030D-6E8A-4147-A177-3AD203B41FA5}">
                      <a16:colId xmlns:a16="http://schemas.microsoft.com/office/drawing/2014/main" val="294873502"/>
                    </a:ext>
                  </a:extLst>
                </a:gridCol>
                <a:gridCol w="2717162">
                  <a:extLst>
                    <a:ext uri="{9D8B030D-6E8A-4147-A177-3AD203B41FA5}">
                      <a16:colId xmlns:a16="http://schemas.microsoft.com/office/drawing/2014/main" val="1485252373"/>
                    </a:ext>
                  </a:extLst>
                </a:gridCol>
              </a:tblGrid>
              <a:tr h="4413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Критерий выбора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Tkinter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PyQt / PySide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Kivy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8198420"/>
                  </a:ext>
                </a:extLst>
              </a:tr>
              <a:tr h="17655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 dirty="0">
                          <a:effectLst/>
                        </a:rPr>
                        <a:t>Сложность освоения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Низкая (стандартная библиотека)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Высокая (требует изучения Qt)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Средняя (базовый уровень не сложен)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630984"/>
                  </a:ext>
                </a:extLst>
              </a:tr>
              <a:tr h="17655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 dirty="0">
                          <a:effectLst/>
                        </a:rPr>
                        <a:t>Вес итогового приложения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Минимальный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Значительный из-за тяжелых зависимостей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Выше среднего из-за кроссплатформенности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6435527"/>
                  </a:ext>
                </a:extLst>
              </a:tr>
              <a:tr h="8827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Лицензирование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Свободное (Python License)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Коммерческое / GPL (ограничения)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Лицензия MIT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5014823"/>
                  </a:ext>
                </a:extLst>
              </a:tr>
              <a:tr h="17655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Скорость разработки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Высокая для простых интерфейсов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>
                          <a:effectLst/>
                        </a:rPr>
                        <a:t>Средняя (требует предварительной верстки)</a:t>
                      </a:r>
                      <a:endParaRPr lang="ru-RU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400" kern="100" dirty="0">
                          <a:effectLst/>
                        </a:rPr>
                        <a:t>Высокая для кроссплатформенных приложений</a:t>
                      </a:r>
                      <a:endParaRPr lang="ru-RU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3691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82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585" y="333917"/>
            <a:ext cx="4778829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1B0631-6495-4C7A-33FB-1E005B299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183"/>
            <a:ext cx="12192000" cy="3608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ABE72F-A55C-FFA1-E871-2C2747D0CEFA}"/>
              </a:ext>
            </a:extLst>
          </p:cNvPr>
          <p:cNvSpPr txBox="1"/>
          <p:nvPr/>
        </p:nvSpPr>
        <p:spPr>
          <a:xfrm>
            <a:off x="5184320" y="5192735"/>
            <a:ext cx="182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BPMN</a:t>
            </a:r>
            <a:endParaRPr lang="ru-RU" sz="1800" b="1" kern="100" dirty="0">
              <a:effectLst/>
              <a:latin typeface="Times New Roman" panose="02020603050405020304" pitchFamily="18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E6E788-0CBF-9FA5-3C33-5D3D27775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24" y="225742"/>
            <a:ext cx="9199952" cy="5673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EC812F-C90F-DFB4-A371-1EB5CB1D355F}"/>
              </a:ext>
            </a:extLst>
          </p:cNvPr>
          <p:cNvSpPr txBox="1"/>
          <p:nvPr/>
        </p:nvSpPr>
        <p:spPr>
          <a:xfrm>
            <a:off x="5184321" y="6004498"/>
            <a:ext cx="182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Use case</a:t>
            </a:r>
            <a:endParaRPr lang="ru-RU" sz="1800" b="1" kern="100" dirty="0">
              <a:effectLst/>
              <a:latin typeface="Times New Roman" panose="02020603050405020304" pitchFamily="18" charset="0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18255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2EBC-6269-6895-F448-13FA94BD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7DD95C-F179-EB0B-F5D6-6261AD88DF8A}"/>
              </a:ext>
            </a:extLst>
          </p:cNvPr>
          <p:cNvSpPr txBox="1"/>
          <p:nvPr/>
        </p:nvSpPr>
        <p:spPr>
          <a:xfrm>
            <a:off x="2084134" y="5816463"/>
            <a:ext cx="219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ER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диаграмма 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0440A4-939B-38C7-795C-9A865D9B0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09" y="1090684"/>
            <a:ext cx="5716555" cy="4599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95FE2B-9156-8225-2750-2C099C5101D7}"/>
              </a:ext>
            </a:extLst>
          </p:cNvPr>
          <p:cNvSpPr txBox="1"/>
          <p:nvPr/>
        </p:nvSpPr>
        <p:spPr>
          <a:xfrm>
            <a:off x="7221299" y="5689908"/>
            <a:ext cx="395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Диаграмма последовательности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AFF5FF-5A7C-8017-D028-CBABE2116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88" y="1090684"/>
            <a:ext cx="5841887" cy="459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8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088A2-4D89-2CB4-B2BB-2017CB8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8AFE6-0ED4-2C47-266D-1142F690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030" y="330241"/>
            <a:ext cx="7829939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работоспособности решения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BAC4595-89F4-A462-9E3E-8FE365348017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504E1-7747-5B83-2C7C-0233E8BAC9B1}"/>
              </a:ext>
            </a:extLst>
          </p:cNvPr>
          <p:cNvSpPr txBox="1"/>
          <p:nvPr/>
        </p:nvSpPr>
        <p:spPr>
          <a:xfrm>
            <a:off x="7508203" y="5379022"/>
            <a:ext cx="2904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Главное меню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7466B5-4FE8-0604-7BC9-C6D895568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51" y="1598613"/>
            <a:ext cx="4786649" cy="3657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B6E574-5CAA-5B35-954E-608BA1CE9599}"/>
              </a:ext>
            </a:extLst>
          </p:cNvPr>
          <p:cNvSpPr txBox="1"/>
          <p:nvPr/>
        </p:nvSpPr>
        <p:spPr>
          <a:xfrm>
            <a:off x="1515015" y="5379022"/>
            <a:ext cx="29045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Окно регистрации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001EDF2-3DDD-6023-A665-267890E69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25" y="2360646"/>
            <a:ext cx="5315125" cy="23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69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18070F-140C-9A2C-80E0-7E965967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806" y="1058949"/>
            <a:ext cx="5940425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7F6F90-2393-DFD0-02BE-E2FAFC65D937}"/>
              </a:ext>
            </a:extLst>
          </p:cNvPr>
          <p:cNvSpPr txBox="1"/>
          <p:nvPr/>
        </p:nvSpPr>
        <p:spPr>
          <a:xfrm>
            <a:off x="7224910" y="4847178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Локальная загрузка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DCB05D-95FD-E5E4-D4D9-3A9F4EE6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69" y="1058949"/>
            <a:ext cx="4838462" cy="3657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ACE325-D92D-C54F-FAE7-2917C97FFAEB}"/>
              </a:ext>
            </a:extLst>
          </p:cNvPr>
          <p:cNvSpPr txBox="1"/>
          <p:nvPr/>
        </p:nvSpPr>
        <p:spPr>
          <a:xfrm>
            <a:off x="1285892" y="4847178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Меню загрузки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560328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6C94-F0FB-4B4E-52EE-B0131DC3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6A7451-75F6-5038-A420-BA0CD627A53E}"/>
              </a:ext>
            </a:extLst>
          </p:cNvPr>
          <p:cNvSpPr txBox="1"/>
          <p:nvPr/>
        </p:nvSpPr>
        <p:spPr>
          <a:xfrm>
            <a:off x="6119557" y="5928833"/>
            <a:ext cx="352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Справка о подготовке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7CB5E-F9B0-7B92-2112-1B15EC0FE876}"/>
              </a:ext>
            </a:extLst>
          </p:cNvPr>
          <p:cNvSpPr txBox="1"/>
          <p:nvPr/>
        </p:nvSpPr>
        <p:spPr>
          <a:xfrm>
            <a:off x="761324" y="2782669"/>
            <a:ext cx="3130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Окно положительного окончания операции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3FBA7B-C087-DAF7-9544-03B5461B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25" y="478738"/>
            <a:ext cx="3117364" cy="21869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EDF253-19E3-6AA4-0B6A-4D8663E7A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24" y="3708141"/>
            <a:ext cx="3104515" cy="190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1DEC8-B1B2-D559-EF50-B649FC1F984F}"/>
              </a:ext>
            </a:extLst>
          </p:cNvPr>
          <p:cNvSpPr txBox="1"/>
          <p:nvPr/>
        </p:nvSpPr>
        <p:spPr>
          <a:xfrm>
            <a:off x="774173" y="5832648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Окно ошибки операции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00A6EA-DA97-547C-1FCA-3BCE72A8E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951" y="478737"/>
            <a:ext cx="4947174" cy="21869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A6878E-9E24-A626-FFBE-56FC353FFD63}"/>
              </a:ext>
            </a:extLst>
          </p:cNvPr>
          <p:cNvSpPr txBox="1"/>
          <p:nvPr/>
        </p:nvSpPr>
        <p:spPr>
          <a:xfrm>
            <a:off x="6316428" y="2778817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Окно для загрузки с сайта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0CEAB75-0DB2-5D32-48EE-22EF41C0F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950" y="3429000"/>
            <a:ext cx="4947173" cy="240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65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B4F30-0D95-013C-53CA-3486A098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EC5EA1-4326-5727-BE37-F57581AF68CB}"/>
              </a:ext>
            </a:extLst>
          </p:cNvPr>
          <p:cNvSpPr txBox="1"/>
          <p:nvPr/>
        </p:nvSpPr>
        <p:spPr>
          <a:xfrm>
            <a:off x="7224910" y="4847178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Корреляция признаков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A7CD8-0FDF-3DBC-287A-13CE5CD042ED}"/>
              </a:ext>
            </a:extLst>
          </p:cNvPr>
          <p:cNvSpPr txBox="1"/>
          <p:nvPr/>
        </p:nvSpPr>
        <p:spPr>
          <a:xfrm>
            <a:off x="1285891" y="4812500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Гистограмма стран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2C677B3-982B-D97C-3543-304AACE80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64" y="706926"/>
            <a:ext cx="5360670" cy="40449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C8D904-5708-4C19-EEB1-ECEC52C6D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903" y="706927"/>
            <a:ext cx="5902228" cy="404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36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823F-1D44-E66E-01DE-574FF507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3CCAF3-0AC3-C43E-B4FD-E5D74AC73A03}"/>
              </a:ext>
            </a:extLst>
          </p:cNvPr>
          <p:cNvSpPr txBox="1"/>
          <p:nvPr/>
        </p:nvSpPr>
        <p:spPr>
          <a:xfrm>
            <a:off x="7271563" y="6088150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Статистика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723AF-0304-713A-7232-4992A6161C65}"/>
              </a:ext>
            </a:extLst>
          </p:cNvPr>
          <p:cNvSpPr txBox="1"/>
          <p:nvPr/>
        </p:nvSpPr>
        <p:spPr>
          <a:xfrm>
            <a:off x="1189063" y="6088150"/>
            <a:ext cx="3650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Диаграмма размаха возраста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F8F66D-8C4F-48AA-5D0F-E78E08F23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15" y="522515"/>
            <a:ext cx="5801078" cy="47586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44FDEB-91AB-C44E-F738-44CFCAA9E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04" y="400518"/>
            <a:ext cx="4921461" cy="54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71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EDF8-7607-267F-09B2-B5915F3E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5B51D90-8E4F-16E0-6293-CE58564BF624}"/>
              </a:ext>
            </a:extLst>
          </p:cNvPr>
          <p:cNvSpPr txBox="1"/>
          <p:nvPr/>
        </p:nvSpPr>
        <p:spPr>
          <a:xfrm>
            <a:off x="7396362" y="5653725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Создание нейронной сети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14DB2-AC90-DF13-1276-A71FA1FE3E1B}"/>
              </a:ext>
            </a:extLst>
          </p:cNvPr>
          <p:cNvSpPr txBox="1"/>
          <p:nvPr/>
        </p:nvSpPr>
        <p:spPr>
          <a:xfrm>
            <a:off x="1215053" y="5653725"/>
            <a:ext cx="3650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Меню нейронных сетей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4408DA-C60E-A96A-CF6A-209DE443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7" y="1209505"/>
            <a:ext cx="5359054" cy="41089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4FD048-EF1B-49A5-903B-9A86E4B7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593" y="1204275"/>
            <a:ext cx="4843754" cy="411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4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D488-7E67-82B6-99DD-D81F8B78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467A13-6B85-AA7B-2ABB-9F405C0E90F1}"/>
              </a:ext>
            </a:extLst>
          </p:cNvPr>
          <p:cNvSpPr txBox="1"/>
          <p:nvPr/>
        </p:nvSpPr>
        <p:spPr>
          <a:xfrm>
            <a:off x="7362464" y="6185570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Новый пациент</a:t>
            </a:r>
            <a:endParaRPr lang="ru-RU" sz="1800" b="1" kern="100" dirty="0">
              <a:effectLst/>
              <a:latin typeface="Times New Roman" panose="02020603050405020304" pitchFamily="18" charset="0"/>
              <a:ea typeface="Droid Sans Fallback"/>
              <a:cs typeface="Free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AE9E4-76D8-408F-26FD-8ABA9FD2EB89}"/>
              </a:ext>
            </a:extLst>
          </p:cNvPr>
          <p:cNvSpPr txBox="1"/>
          <p:nvPr/>
        </p:nvSpPr>
        <p:spPr>
          <a:xfrm>
            <a:off x="1389594" y="6185570"/>
            <a:ext cx="3650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Результат тестирование сети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2CB29D-C046-5C3A-F2C2-0C5880BA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70" y="1355194"/>
            <a:ext cx="5761830" cy="414761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D7F256-9C02-A6B5-AD8E-C66FD390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199" y="303098"/>
            <a:ext cx="3874865" cy="578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99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5855-15CB-1F07-B136-A1D5894C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703046-DF17-C996-E887-5B1D4A93DAA9}"/>
              </a:ext>
            </a:extLst>
          </p:cNvPr>
          <p:cNvSpPr txBox="1"/>
          <p:nvPr/>
        </p:nvSpPr>
        <p:spPr>
          <a:xfrm>
            <a:off x="7083600" y="6185570"/>
            <a:ext cx="313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Окно со статьёй</a:t>
            </a:r>
            <a:endParaRPr lang="ru-RU" sz="1800" b="1" kern="100" dirty="0">
              <a:effectLst/>
              <a:latin typeface="Times New Roman" panose="02020603050405020304" pitchFamily="18" charset="0"/>
              <a:ea typeface="Droid Sans Fallback"/>
              <a:cs typeface="Free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71930-0F53-7377-18F0-ABADA9EBEE27}"/>
              </a:ext>
            </a:extLst>
          </p:cNvPr>
          <p:cNvSpPr txBox="1"/>
          <p:nvPr/>
        </p:nvSpPr>
        <p:spPr>
          <a:xfrm>
            <a:off x="1389594" y="6185570"/>
            <a:ext cx="3650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Результат для нового пациента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D9A93B-D7B0-2ED8-B144-9372DAA5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67" y="118110"/>
            <a:ext cx="3786635" cy="606746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E3010B-DF5A-D976-D9F8-0048D9BF0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600" y="160185"/>
            <a:ext cx="3130215" cy="26667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245436-2071-A9EE-70B8-FF6691206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571" y="3741576"/>
            <a:ext cx="4700270" cy="2202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2CA1E2-4279-CA10-6EFC-39769D04BC44}"/>
              </a:ext>
            </a:extLst>
          </p:cNvPr>
          <p:cNvSpPr txBox="1"/>
          <p:nvPr/>
        </p:nvSpPr>
        <p:spPr>
          <a:xfrm>
            <a:off x="7341413" y="3059668"/>
            <a:ext cx="2614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Справочник</a:t>
            </a:r>
          </a:p>
        </p:txBody>
      </p:sp>
    </p:spTree>
    <p:extLst>
      <p:ext uri="{BB962C8B-B14F-4D97-AF65-F5344CB8AC3E}">
        <p14:creationId xmlns:p14="http://schemas.microsoft.com/office/powerpoint/2010/main" val="1045095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B1D8-0DC4-D8D6-1955-A0402738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B230F-31A5-D07C-38D7-8641E57F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541" y="374458"/>
            <a:ext cx="6756918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методики тестирования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588FE7E-DB53-7DBA-E154-B63C1524B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1728786"/>
            <a:ext cx="4676192" cy="3400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Тестироваться будет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Стабильность работы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работы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Некорректные вводные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созданных моделей.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0" name="Picture 4" descr="Ручное тестирование программного обеспечения">
            <a:extLst>
              <a:ext uri="{FF2B5EF4-FFF2-40B4-BE49-F238E27FC236}">
                <a16:creationId xmlns:a16="http://schemas.microsoft.com/office/drawing/2014/main" id="{898E1575-76DB-F564-9EBA-D7675A14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9" y="1728787"/>
            <a:ext cx="57150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D1DC9-56DF-7329-1124-B57845F734EC}"/>
              </a:ext>
            </a:extLst>
          </p:cNvPr>
          <p:cNvSpPr txBox="1"/>
          <p:nvPr/>
        </p:nvSpPr>
        <p:spPr>
          <a:xfrm>
            <a:off x="6939868" y="5191422"/>
            <a:ext cx="3650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770918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0AF3A06-F6CD-009B-B1BD-31D9AB6BA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586779"/>
              </p:ext>
            </p:extLst>
          </p:nvPr>
        </p:nvGraphicFramePr>
        <p:xfrm>
          <a:off x="441745" y="338093"/>
          <a:ext cx="11464116" cy="6351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6549">
                  <a:extLst>
                    <a:ext uri="{9D8B030D-6E8A-4147-A177-3AD203B41FA5}">
                      <a16:colId xmlns:a16="http://schemas.microsoft.com/office/drawing/2014/main" val="3927822046"/>
                    </a:ext>
                  </a:extLst>
                </a:gridCol>
                <a:gridCol w="3340359">
                  <a:extLst>
                    <a:ext uri="{9D8B030D-6E8A-4147-A177-3AD203B41FA5}">
                      <a16:colId xmlns:a16="http://schemas.microsoft.com/office/drawing/2014/main" val="1215519498"/>
                    </a:ext>
                  </a:extLst>
                </a:gridCol>
                <a:gridCol w="1007706">
                  <a:extLst>
                    <a:ext uri="{9D8B030D-6E8A-4147-A177-3AD203B41FA5}">
                      <a16:colId xmlns:a16="http://schemas.microsoft.com/office/drawing/2014/main" val="4061273559"/>
                    </a:ext>
                  </a:extLst>
                </a:gridCol>
                <a:gridCol w="2379306">
                  <a:extLst>
                    <a:ext uri="{9D8B030D-6E8A-4147-A177-3AD203B41FA5}">
                      <a16:colId xmlns:a16="http://schemas.microsoft.com/office/drawing/2014/main" val="2568908007"/>
                    </a:ext>
                  </a:extLst>
                </a:gridCol>
                <a:gridCol w="3900196">
                  <a:extLst>
                    <a:ext uri="{9D8B030D-6E8A-4147-A177-3AD203B41FA5}">
                      <a16:colId xmlns:a16="http://schemas.microsoft.com/office/drawing/2014/main" val="3487771161"/>
                    </a:ext>
                  </a:extLst>
                </a:gridCol>
              </a:tblGrid>
              <a:tr h="9074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теста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Вводные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0796656"/>
                  </a:ext>
                </a:extLst>
              </a:tr>
              <a:tr h="60494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Корректный ввод №1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P1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Главное меню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Авторизация работает корректно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4311881"/>
                  </a:ext>
                </a:extLst>
              </a:tr>
              <a:tr h="60494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Корректный ввод №2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F2 P2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Главное меню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Авторизация работает корректно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9652473"/>
                  </a:ext>
                </a:extLst>
              </a:tr>
              <a:tr h="60494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Корректный ввод №3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F7 P7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Главное меню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Авторизация работает корректно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9293053"/>
                  </a:ext>
                </a:extLst>
              </a:tr>
              <a:tr h="9074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Логин верный, пароль нет №1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P5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ввода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авторизации работает корректно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1999148"/>
                  </a:ext>
                </a:extLst>
              </a:tr>
              <a:tr h="9074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Логин верный, пароль верный №2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F7 Z7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ввода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авторизации работает корректно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403297"/>
                  </a:ext>
                </a:extLst>
              </a:tr>
              <a:tr h="9074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Несуществующий логин №1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F100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ввода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авторизации работает корректно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083958"/>
                  </a:ext>
                </a:extLst>
              </a:tr>
              <a:tr h="9074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Несуществующий логин №2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S23562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ввода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авторизации работает корректно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8382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257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405EE0D-CEE7-00F1-D6B1-8473C95C0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83148"/>
              </p:ext>
            </p:extLst>
          </p:nvPr>
        </p:nvGraphicFramePr>
        <p:xfrm>
          <a:off x="161925" y="200003"/>
          <a:ext cx="11818580" cy="65180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3104">
                  <a:extLst>
                    <a:ext uri="{9D8B030D-6E8A-4147-A177-3AD203B41FA5}">
                      <a16:colId xmlns:a16="http://schemas.microsoft.com/office/drawing/2014/main" val="2868727507"/>
                    </a:ext>
                  </a:extLst>
                </a:gridCol>
                <a:gridCol w="3480318">
                  <a:extLst>
                    <a:ext uri="{9D8B030D-6E8A-4147-A177-3AD203B41FA5}">
                      <a16:colId xmlns:a16="http://schemas.microsoft.com/office/drawing/2014/main" val="2183213814"/>
                    </a:ext>
                  </a:extLst>
                </a:gridCol>
                <a:gridCol w="1119673">
                  <a:extLst>
                    <a:ext uri="{9D8B030D-6E8A-4147-A177-3AD203B41FA5}">
                      <a16:colId xmlns:a16="http://schemas.microsoft.com/office/drawing/2014/main" val="77825277"/>
                    </a:ext>
                  </a:extLst>
                </a:gridCol>
                <a:gridCol w="3079102">
                  <a:extLst>
                    <a:ext uri="{9D8B030D-6E8A-4147-A177-3AD203B41FA5}">
                      <a16:colId xmlns:a16="http://schemas.microsoft.com/office/drawing/2014/main" val="2537162896"/>
                    </a:ext>
                  </a:extLst>
                </a:gridCol>
                <a:gridCol w="3256383">
                  <a:extLst>
                    <a:ext uri="{9D8B030D-6E8A-4147-A177-3AD203B41FA5}">
                      <a16:colId xmlns:a16="http://schemas.microsoft.com/office/drawing/2014/main" val="3585465310"/>
                    </a:ext>
                  </a:extLst>
                </a:gridCol>
              </a:tblGrid>
              <a:tr h="85017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теста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Вводные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7807134"/>
                  </a:ext>
                </a:extLst>
              </a:tr>
              <a:tr h="11335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Корректная регистрация №1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S20 P20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успешном создании аккаунта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 создан, авторизация прошла успешно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5960161"/>
                  </a:ext>
                </a:extLst>
              </a:tr>
              <a:tr h="113357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Корректная регистрация №2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S21 P1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успешном создании аккаунта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 создан, авторизация прошла успешно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6439323"/>
                  </a:ext>
                </a:extLst>
              </a:tr>
              <a:tr h="85017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ввода логина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регистрации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 не создан, создано окно об ошибке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2400066"/>
                  </a:ext>
                </a:extLst>
              </a:tr>
              <a:tr h="85017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ввода пароля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регистрации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 не создан, создано окно об ошибке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607510"/>
                  </a:ext>
                </a:extLst>
              </a:tr>
              <a:tr h="85017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ввода логина и пароля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регистрации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 не создан, создано окно об ошибке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571880"/>
                  </a:ext>
                </a:extLst>
              </a:tr>
              <a:tr h="85017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Существующий логин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P10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регистрации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Аккаунт не создан, создано окно об ошибке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011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386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53A36A2-A13B-D486-A13E-E97583F83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526834"/>
              </p:ext>
            </p:extLst>
          </p:nvPr>
        </p:nvGraphicFramePr>
        <p:xfrm>
          <a:off x="273794" y="222395"/>
          <a:ext cx="11725373" cy="64956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7847">
                  <a:extLst>
                    <a:ext uri="{9D8B030D-6E8A-4147-A177-3AD203B41FA5}">
                      <a16:colId xmlns:a16="http://schemas.microsoft.com/office/drawing/2014/main" val="4008571879"/>
                    </a:ext>
                  </a:extLst>
                </a:gridCol>
                <a:gridCol w="3087375">
                  <a:extLst>
                    <a:ext uri="{9D8B030D-6E8A-4147-A177-3AD203B41FA5}">
                      <a16:colId xmlns:a16="http://schemas.microsoft.com/office/drawing/2014/main" val="2906907431"/>
                    </a:ext>
                  </a:extLst>
                </a:gridCol>
                <a:gridCol w="2543321">
                  <a:extLst>
                    <a:ext uri="{9D8B030D-6E8A-4147-A177-3AD203B41FA5}">
                      <a16:colId xmlns:a16="http://schemas.microsoft.com/office/drawing/2014/main" val="1509772237"/>
                    </a:ext>
                  </a:extLst>
                </a:gridCol>
                <a:gridCol w="2515717">
                  <a:extLst>
                    <a:ext uri="{9D8B030D-6E8A-4147-A177-3AD203B41FA5}">
                      <a16:colId xmlns:a16="http://schemas.microsoft.com/office/drawing/2014/main" val="2495486178"/>
                    </a:ext>
                  </a:extLst>
                </a:gridCol>
                <a:gridCol w="2621113">
                  <a:extLst>
                    <a:ext uri="{9D8B030D-6E8A-4147-A177-3AD203B41FA5}">
                      <a16:colId xmlns:a16="http://schemas.microsoft.com/office/drawing/2014/main" val="3195426077"/>
                    </a:ext>
                  </a:extLst>
                </a:gridCol>
              </a:tblGrid>
              <a:tr h="1299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теста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Вводные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8135201"/>
                  </a:ext>
                </a:extLst>
              </a:tr>
              <a:tr h="1299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загрузки данных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Нажатие соответствующей кнопки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в соответствующее меню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работает корректно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9849091"/>
                  </a:ext>
                </a:extLst>
              </a:tr>
              <a:tr h="1299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просмотра данных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Нажатие соответствующей кнопки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в соответствующее меню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работает корректно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3761016"/>
                  </a:ext>
                </a:extLst>
              </a:tr>
              <a:tr h="1299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нейронных сетей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Нажатие соответствующей кнопки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в соответствующее меню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работает корректно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343569"/>
                  </a:ext>
                </a:extLst>
              </a:tr>
              <a:tr h="12991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справочника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Нажатие соответствующей кнопки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в соответствующее меню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работает корректно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2096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511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58DE8FA-5BEF-DF6B-8A8E-05A5DF563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03402"/>
              </p:ext>
            </p:extLst>
          </p:nvPr>
        </p:nvGraphicFramePr>
        <p:xfrm>
          <a:off x="161925" y="137160"/>
          <a:ext cx="11753267" cy="65342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1813">
                  <a:extLst>
                    <a:ext uri="{9D8B030D-6E8A-4147-A177-3AD203B41FA5}">
                      <a16:colId xmlns:a16="http://schemas.microsoft.com/office/drawing/2014/main" val="2273703494"/>
                    </a:ext>
                  </a:extLst>
                </a:gridCol>
                <a:gridCol w="2462589">
                  <a:extLst>
                    <a:ext uri="{9D8B030D-6E8A-4147-A177-3AD203B41FA5}">
                      <a16:colId xmlns:a16="http://schemas.microsoft.com/office/drawing/2014/main" val="3609547625"/>
                    </a:ext>
                  </a:extLst>
                </a:gridCol>
                <a:gridCol w="3910209">
                  <a:extLst>
                    <a:ext uri="{9D8B030D-6E8A-4147-A177-3AD203B41FA5}">
                      <a16:colId xmlns:a16="http://schemas.microsoft.com/office/drawing/2014/main" val="102837146"/>
                    </a:ext>
                  </a:extLst>
                </a:gridCol>
                <a:gridCol w="1895364">
                  <a:extLst>
                    <a:ext uri="{9D8B030D-6E8A-4147-A177-3AD203B41FA5}">
                      <a16:colId xmlns:a16="http://schemas.microsoft.com/office/drawing/2014/main" val="1315017044"/>
                    </a:ext>
                  </a:extLst>
                </a:gridCol>
                <a:gridCol w="2373292">
                  <a:extLst>
                    <a:ext uri="{9D8B030D-6E8A-4147-A177-3AD203B41FA5}">
                      <a16:colId xmlns:a16="http://schemas.microsoft.com/office/drawing/2014/main" val="4009540679"/>
                    </a:ext>
                  </a:extLst>
                </a:gridCol>
              </a:tblGrid>
              <a:tr h="108903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теста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Вводные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687644"/>
                  </a:ext>
                </a:extLst>
              </a:tr>
              <a:tr h="108903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Корректные данные №1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lung_cancer_prediction (</a:t>
                      </a: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полные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).csv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успешной загрузке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прошла успешна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416323"/>
                  </a:ext>
                </a:extLst>
              </a:tr>
              <a:tr h="108903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Корректные данные №2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lung_cancer_prediction </a:t>
                      </a: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обучение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.csv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успешной загрузке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прошла успешна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9934781"/>
                  </a:ext>
                </a:extLst>
              </a:tr>
              <a:tr h="108903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Неверный файл №1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 E1.csv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загрузки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не произошла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3094672"/>
                  </a:ext>
                </a:extLst>
              </a:tr>
              <a:tr h="108903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Неверный файл №2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 E2.csv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загрузки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не произошла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933420"/>
                  </a:ext>
                </a:extLst>
              </a:tr>
              <a:tr h="108903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 с ошибкой в данных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 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Error_lung_cancer_prediction (</a:t>
                      </a: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полные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).csv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загрузки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не произошла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7870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375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C34105F-DBB0-FB37-4C28-B72D17346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810115"/>
              </p:ext>
            </p:extLst>
          </p:nvPr>
        </p:nvGraphicFramePr>
        <p:xfrm>
          <a:off x="245803" y="285843"/>
          <a:ext cx="11753364" cy="6460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9306">
                  <a:extLst>
                    <a:ext uri="{9D8B030D-6E8A-4147-A177-3AD203B41FA5}">
                      <a16:colId xmlns:a16="http://schemas.microsoft.com/office/drawing/2014/main" val="302848823"/>
                    </a:ext>
                  </a:extLst>
                </a:gridCol>
                <a:gridCol w="1985935">
                  <a:extLst>
                    <a:ext uri="{9D8B030D-6E8A-4147-A177-3AD203B41FA5}">
                      <a16:colId xmlns:a16="http://schemas.microsoft.com/office/drawing/2014/main" val="749772283"/>
                    </a:ext>
                  </a:extLst>
                </a:gridCol>
                <a:gridCol w="4273722">
                  <a:extLst>
                    <a:ext uri="{9D8B030D-6E8A-4147-A177-3AD203B41FA5}">
                      <a16:colId xmlns:a16="http://schemas.microsoft.com/office/drawing/2014/main" val="4095755491"/>
                    </a:ext>
                  </a:extLst>
                </a:gridCol>
                <a:gridCol w="2377085">
                  <a:extLst>
                    <a:ext uri="{9D8B030D-6E8A-4147-A177-3AD203B41FA5}">
                      <a16:colId xmlns:a16="http://schemas.microsoft.com/office/drawing/2014/main" val="3827718141"/>
                    </a:ext>
                  </a:extLst>
                </a:gridCol>
                <a:gridCol w="2007316">
                  <a:extLst>
                    <a:ext uri="{9D8B030D-6E8A-4147-A177-3AD203B41FA5}">
                      <a16:colId xmlns:a16="http://schemas.microsoft.com/office/drawing/2014/main" val="3619713852"/>
                    </a:ext>
                  </a:extLst>
                </a:gridCol>
              </a:tblGrid>
              <a:tr h="8426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теста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Вводные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395601"/>
                  </a:ext>
                </a:extLst>
              </a:tr>
              <a:tr h="140438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с корректной ссылки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https://www.kaggle.com/datasets</a:t>
                      </a:r>
                    </a:p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ankushpanday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lung-cancer-risk-and-prediction-dataset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успешной загрузке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прошла успешно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543744"/>
                  </a:ext>
                </a:extLst>
              </a:tr>
              <a:tr h="140438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с не корректной ссылки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://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www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ankushpanday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lung-cancer-risk-and-prediction-dataset1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не произошла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7530716"/>
                  </a:ext>
                </a:extLst>
              </a:tr>
              <a:tr h="140438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файла для подключения к 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://</a:t>
                      </a:r>
                      <a:r>
                        <a:rPr lang="fr-FR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www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fr-FR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fr-FR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fr-FR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fr-FR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ankushpanday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lung-cancer-risk-and-prediction-dataset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наличия файла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не произошла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1220678"/>
                  </a:ext>
                </a:extLst>
              </a:tr>
              <a:tr h="140438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Ошибка в файле для подключения к 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https://www.kaggle.com/datasets</a:t>
                      </a:r>
                    </a:p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ankushpanday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lung-cancer-risk-and-prediction-dataset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об ошибке аутентификации с Kaggle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не произошла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431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115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7C8E5DC-14D4-A0D0-F592-959C31FE4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82353"/>
              </p:ext>
            </p:extLst>
          </p:nvPr>
        </p:nvGraphicFramePr>
        <p:xfrm>
          <a:off x="469737" y="297040"/>
          <a:ext cx="11445454" cy="2987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2695">
                  <a:extLst>
                    <a:ext uri="{9D8B030D-6E8A-4147-A177-3AD203B41FA5}">
                      <a16:colId xmlns:a16="http://schemas.microsoft.com/office/drawing/2014/main" val="3264992909"/>
                    </a:ext>
                  </a:extLst>
                </a:gridCol>
                <a:gridCol w="3077841">
                  <a:extLst>
                    <a:ext uri="{9D8B030D-6E8A-4147-A177-3AD203B41FA5}">
                      <a16:colId xmlns:a16="http://schemas.microsoft.com/office/drawing/2014/main" val="484229596"/>
                    </a:ext>
                  </a:extLst>
                </a:gridCol>
                <a:gridCol w="2431164">
                  <a:extLst>
                    <a:ext uri="{9D8B030D-6E8A-4147-A177-3AD203B41FA5}">
                      <a16:colId xmlns:a16="http://schemas.microsoft.com/office/drawing/2014/main" val="1587117607"/>
                    </a:ext>
                  </a:extLst>
                </a:gridCol>
                <a:gridCol w="1964528">
                  <a:extLst>
                    <a:ext uri="{9D8B030D-6E8A-4147-A177-3AD203B41FA5}">
                      <a16:colId xmlns:a16="http://schemas.microsoft.com/office/drawing/2014/main" val="291457583"/>
                    </a:ext>
                  </a:extLst>
                </a:gridCol>
                <a:gridCol w="2889226">
                  <a:extLst>
                    <a:ext uri="{9D8B030D-6E8A-4147-A177-3AD203B41FA5}">
                      <a16:colId xmlns:a16="http://schemas.microsoft.com/office/drawing/2014/main" val="278877171"/>
                    </a:ext>
                  </a:extLst>
                </a:gridCol>
              </a:tblGrid>
              <a:tr h="3894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392050"/>
                  </a:ext>
                </a:extLst>
              </a:tr>
              <a:tr h="3894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рака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0.759</a:t>
                      </a: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0.723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минута 50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7112761"/>
                  </a:ext>
                </a:extLst>
              </a:tr>
              <a:tr h="58415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смерти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0.068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0.225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</a:t>
                      </a: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3904578"/>
                  </a:ext>
                </a:extLst>
              </a:tr>
              <a:tr h="58415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выживание в течении 5 лет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0.067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0.221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0.04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0095020"/>
                  </a:ext>
                </a:extLst>
              </a:tr>
              <a:tr h="3894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типа рака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0.77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0.782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минут 30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2755454"/>
                  </a:ext>
                </a:extLst>
              </a:tr>
              <a:tr h="3894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мутации рака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0.32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0.315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минут 45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0400474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D16B536-18C1-E703-FB14-E284F74D2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67262"/>
              </p:ext>
            </p:extLst>
          </p:nvPr>
        </p:nvGraphicFramePr>
        <p:xfrm>
          <a:off x="469738" y="3644865"/>
          <a:ext cx="11445453" cy="2987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4197">
                  <a:extLst>
                    <a:ext uri="{9D8B030D-6E8A-4147-A177-3AD203B41FA5}">
                      <a16:colId xmlns:a16="http://schemas.microsoft.com/office/drawing/2014/main" val="3892718741"/>
                    </a:ext>
                  </a:extLst>
                </a:gridCol>
                <a:gridCol w="3016514">
                  <a:extLst>
                    <a:ext uri="{9D8B030D-6E8A-4147-A177-3AD203B41FA5}">
                      <a16:colId xmlns:a16="http://schemas.microsoft.com/office/drawing/2014/main" val="3904386856"/>
                    </a:ext>
                  </a:extLst>
                </a:gridCol>
                <a:gridCol w="1724448">
                  <a:extLst>
                    <a:ext uri="{9D8B030D-6E8A-4147-A177-3AD203B41FA5}">
                      <a16:colId xmlns:a16="http://schemas.microsoft.com/office/drawing/2014/main" val="844404767"/>
                    </a:ext>
                  </a:extLst>
                </a:gridCol>
                <a:gridCol w="2523086">
                  <a:extLst>
                    <a:ext uri="{9D8B030D-6E8A-4147-A177-3AD203B41FA5}">
                      <a16:colId xmlns:a16="http://schemas.microsoft.com/office/drawing/2014/main" val="3232064301"/>
                    </a:ext>
                  </a:extLst>
                </a:gridCol>
                <a:gridCol w="3057208">
                  <a:extLst>
                    <a:ext uri="{9D8B030D-6E8A-4147-A177-3AD203B41FA5}">
                      <a16:colId xmlns:a16="http://schemas.microsoft.com/office/drawing/2014/main" val="1626746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562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рака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0.7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0.727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 5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8738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смерти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0.067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0.224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0.0004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секунд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0824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выживание в течении 5 лет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0.221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0.05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340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типа рака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0.83</a:t>
                      </a: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0.81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</a:t>
                      </a: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минут 13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827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мутации рака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0.34</a:t>
                      </a:r>
                    </a:p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0.326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</a:t>
                      </a:r>
                      <a:r>
                        <a:rPr lang="ru-RU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минут 26 секунд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937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458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F17A87F-49BF-0AF5-1FD8-598B8F979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17071"/>
              </p:ext>
            </p:extLst>
          </p:nvPr>
        </p:nvGraphicFramePr>
        <p:xfrm>
          <a:off x="301690" y="1039595"/>
          <a:ext cx="11588619" cy="4778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8260">
                  <a:extLst>
                    <a:ext uri="{9D8B030D-6E8A-4147-A177-3AD203B41FA5}">
                      <a16:colId xmlns:a16="http://schemas.microsoft.com/office/drawing/2014/main" val="451993106"/>
                    </a:ext>
                  </a:extLst>
                </a:gridCol>
                <a:gridCol w="3054245">
                  <a:extLst>
                    <a:ext uri="{9D8B030D-6E8A-4147-A177-3AD203B41FA5}">
                      <a16:colId xmlns:a16="http://schemas.microsoft.com/office/drawing/2014/main" val="2718682175"/>
                    </a:ext>
                  </a:extLst>
                </a:gridCol>
                <a:gridCol w="1746018">
                  <a:extLst>
                    <a:ext uri="{9D8B030D-6E8A-4147-A177-3AD203B41FA5}">
                      <a16:colId xmlns:a16="http://schemas.microsoft.com/office/drawing/2014/main" val="3026126001"/>
                    </a:ext>
                  </a:extLst>
                </a:gridCol>
                <a:gridCol w="2554647">
                  <a:extLst>
                    <a:ext uri="{9D8B030D-6E8A-4147-A177-3AD203B41FA5}">
                      <a16:colId xmlns:a16="http://schemas.microsoft.com/office/drawing/2014/main" val="680659594"/>
                    </a:ext>
                  </a:extLst>
                </a:gridCol>
                <a:gridCol w="3095449">
                  <a:extLst>
                    <a:ext uri="{9D8B030D-6E8A-4147-A177-3AD203B41FA5}">
                      <a16:colId xmlns:a16="http://schemas.microsoft.com/office/drawing/2014/main" val="1948321064"/>
                    </a:ext>
                  </a:extLst>
                </a:gridCol>
              </a:tblGrid>
              <a:tr h="6826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теста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тестирования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8149976"/>
                  </a:ext>
                </a:extLst>
              </a:tr>
              <a:tr h="6826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рака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0.721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минуты 18 секунд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1726017"/>
                  </a:ext>
                </a:extLst>
              </a:tr>
              <a:tr h="10240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смерти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0.222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0.0008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секунд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9383677"/>
                  </a:ext>
                </a:extLst>
              </a:tr>
              <a:tr h="10240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выживание в течении 5 лет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0.22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0.052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секунд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8153265"/>
                  </a:ext>
                </a:extLst>
              </a:tr>
              <a:tr h="6826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типа рака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0.854</a:t>
                      </a: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0.82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минут 6 секунд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5646996"/>
                  </a:ext>
                </a:extLst>
              </a:tr>
              <a:tr h="6826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Определение мутации рака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0.357</a:t>
                      </a:r>
                    </a:p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0.332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минут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52</a:t>
                      </a:r>
                      <a:r>
                        <a:rPr lang="ru-RU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секунд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Нейронная сеть создана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6466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628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3DBD-DA08-E5AE-7C4C-FD00440A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9C3E6-88BF-EB11-FA23-313B8EBC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447" y="299813"/>
            <a:ext cx="8399106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 тестирования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7ECDFF9-FFA9-72C3-A8B4-071A0F003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7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 4 и 5 долго обучаются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 для определения наличия рака и его типа показали достаточную точность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нейронная сеть для определения мутации не имеет достаточную точность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 для расчёта вероятности смерти и вероятности выживания показали низкую информативность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Остальные элементы программы работают стабильно и корректно</a:t>
            </a:r>
          </a:p>
        </p:txBody>
      </p:sp>
    </p:spTree>
    <p:extLst>
      <p:ext uri="{BB962C8B-B14F-4D97-AF65-F5344CB8AC3E}">
        <p14:creationId xmlns:p14="http://schemas.microsoft.com/office/powerpoint/2010/main" val="176082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CE9C-AB3F-EB89-2AE0-DDC296F5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CD45E-5679-7009-3C3B-144284AC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379" y="108193"/>
            <a:ext cx="9461242" cy="69424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Организационно-экономическое обоснование выпускной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квалификационной работы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5D4FD9-D16B-2E71-8E24-20D47C1F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" y="34523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Рисунок 4">
            <a:extLst>
              <a:ext uri="{FF2B5EF4-FFF2-40B4-BE49-F238E27FC236}">
                <a16:creationId xmlns:a16="http://schemas.microsoft.com/office/drawing/2014/main" id="{183D87C2-2676-8B30-ADE6-755275DB3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67" y="802433"/>
            <a:ext cx="6622645" cy="574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F718971C-D182-D830-C690-7477DFE0D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436" y="6551544"/>
            <a:ext cx="282570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Календарныйплан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-график (Часть 1)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149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C047-148D-8325-0CE9-AA752C0C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6FF1019-AAB0-B1CE-E301-315116428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" y="34523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55149E-9B37-35AE-C352-42D2EB0A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436" y="6551544"/>
            <a:ext cx="282570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Календарный план-график (Часть 2)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CAF606-48BF-44C8-FCE9-87D2527A9E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45" y="141424"/>
            <a:ext cx="10444109" cy="62704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8214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577" y="234499"/>
            <a:ext cx="2436845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F4412-3B9C-91CA-3572-487140F91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8" y="1175656"/>
            <a:ext cx="11672596" cy="518597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результате проведённой работы ВКР, был произведён анализ предметной области, рассмотрены существующие решения, а на их основе сформированы требования к разрабатываема сервису.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На основе полученных требований было спроектирован и реализован аналитический сервис поддержки принятия врачебных решений для ранней диагностики рака легких.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После проведения его тестирования можно выделить следующие факты: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 достигнута.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цели достигнуты частично.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Разработанное приложение представляет собой завершенный программный продукт, готовый к тестовой эксплуатации. Оно снижает когнитивную нагрузку на врачей-терапевтов и пульмонологов, объективизирует выделение групп риска и повышает оперативность направления пациентов на углубленную диагностику, способствуя раннему выявлению онкологических процессов.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12DA-1D9B-7719-8961-2A99736E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4BCC91B1-1528-FA1A-E024-22EF1F5C61C1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188A2C4C-2DFC-DA69-2F43-64264D9617C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0E3A5C-156D-0590-BE29-A6F5245436CE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ИНБО-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-22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Соколов АВ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каф. ПМ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Аристов А.И.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1CE81BAB-AEC3-1F91-734E-37E3FEC5EA73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информатика»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«Управление данными»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423129D1-EA05-C120-F43F-1A118F82FA7E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804B31-8D75-0CEB-75B4-3CF263A44B48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7BA6A1-BD94-83B5-C321-20F3CC85645E}"/>
              </a:ext>
            </a:extLst>
          </p:cNvPr>
          <p:cNvSpPr txBox="1"/>
          <p:nvPr/>
        </p:nvSpPr>
        <p:spPr>
          <a:xfrm>
            <a:off x="5" y="3381744"/>
            <a:ext cx="12191995" cy="672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</a:rPr>
              <a:t>Выпускная квалификационная работа бакалавра на тему:</a:t>
            </a:r>
          </a:p>
          <a:p>
            <a:pPr marR="853439" lvl="0" indent="942975" algn="ctr">
              <a:lnSpc>
                <a:spcPct val="107000"/>
              </a:lnSpc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аналитического сервиса прогнозирования заболеваемости раком легких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7660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1608</Words>
  <Application>Microsoft Office PowerPoint</Application>
  <PresentationFormat>Широкоэкранный</PresentationFormat>
  <Paragraphs>445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Century Gothic</vt:lpstr>
      <vt:lpstr>Times New Roman</vt:lpstr>
      <vt:lpstr>Тема Office</vt:lpstr>
      <vt:lpstr>Презентация PowerPoint</vt:lpstr>
      <vt:lpstr>Актуальность и цель исследования</vt:lpstr>
      <vt:lpstr>Объект, предмет и задачи исследования</vt:lpstr>
      <vt:lpstr>Презентация PowerPoint</vt:lpstr>
      <vt:lpstr>Обзор существующих решений</vt:lpstr>
      <vt:lpstr>Постановка задачи на разработку аналитического сервиса прогнозирования заболеваемости раком лёгких</vt:lpstr>
      <vt:lpstr>Описание модели данных</vt:lpstr>
      <vt:lpstr>Архитектура и этапы разработки системы</vt:lpstr>
      <vt:lpstr>Обоснование выбора инструментальных средств</vt:lpstr>
      <vt:lpstr>Презентация PowerPoint</vt:lpstr>
      <vt:lpstr>Проектирование системы</vt:lpstr>
      <vt:lpstr>Презентация PowerPoint</vt:lpstr>
      <vt:lpstr>Презентация PowerPoint</vt:lpstr>
      <vt:lpstr>Демонстрация работоспособности решения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Организация методики тестирования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Анализ полученных результатов тестирования</vt:lpstr>
      <vt:lpstr>Организационно-экономическое обоснование выпускной квалификационной работы</vt:lpstr>
      <vt:lpstr>Презентация PowerPoint</vt:lpstr>
      <vt:lpstr>Заключение</vt:lpstr>
      <vt:lpstr>Благодарю за внимание!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Alexandr Sokolov</cp:lastModifiedBy>
  <cp:revision>56</cp:revision>
  <cp:lastPrinted>2026-04-09T08:56:30Z</cp:lastPrinted>
  <dcterms:created xsi:type="dcterms:W3CDTF">2025-04-21T14:08:12Z</dcterms:created>
  <dcterms:modified xsi:type="dcterms:W3CDTF">2026-05-21T15:42:15Z</dcterms:modified>
</cp:coreProperties>
</file>